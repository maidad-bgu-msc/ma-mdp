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173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Adaptive Traffic-Signal Control as a Multi-agent MDP</a:t>
            </a:r>
          </a:p>
          <a:p>
            <a:pPr>
              <a:defRPr sz="2000">
                <a:solidFill>
                  <a:srgbClr val="DDDDDD"/>
                </a:solidFill>
              </a:defRPr>
            </a:pPr>
            <a:r>
              <a:t>A cooperative MMDP traffic domain and a head-to-head study of value-factorisation MARL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SUMO microsimulation + PettingZoo  ·  IQL · Hysteretic-Q · VDN · QMIX (CTDE)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Motivation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Urban congestion is a coordination problem: fixed-time signals can't adapt to shifting demand,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and neighbouring junctions must act jointly to move platoons through a corridor.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We cast adaptive traffic-signal control as a cooperative Multi-agent MDP (MMDP):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one agent per junction picks a green phase; all agents share a single team reward.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Contributions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A configurable MMDP traffic domain: 4 purpose-built stress scenarios + 2 real RESCO benchmarks.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A head-to-head evaluation of IQL, Hysteretic-Q, VDN and QMIX (CTDE) on it.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A reproducible 5-seed pipeline reporting mean +/- std, with an open SLURM harness.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Modelling the domain as an MMDP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MMDP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Agents  N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One controller per signalised junction (1x4: A0,B0,C0,D0; cologne3: 3; grid4x4: 16).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State  S  (near-full observability -&gt; MMDP, not Dec-POMDP)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Each agent sees local E-W &amp; N-S queues PLUS the rest-of-network E-W &amp; N-S queues,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discretised into 5 bins per dimension (5^4 = 625 joint-aware states).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Actions  A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Joint action = product of each junction's green-phase choice (1x4: 2 phases; RESCO: up to 8).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Transitions  T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SUMO microsimulation with stochastic (Poisson) arrivals and platoon injections.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Reward  R  (cooperative / shared)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Single team reward broadcast to all agents: R = - sum of accumulated waiting time over all lanes.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Why this is an MMDP (and why these algorithms fit)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MMDP = cooperative multi-agent MDP: a shared/observable joint state and a single team reward.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The rest-of-network observation pushes each agent toward the global state -&gt; approximates full observability.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The synchronized global reward makes all agents optimise one cooperative objective.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This is exactly the setting cooperative value-factorisation methods target: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VDN and QMIX (CTDE) learn a joint value and factor it for decentralised execution.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IQL and Hysteretic-Q are decentralised baselines that ignore / partially correct for non-stationarity.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The algorithms we evaluate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Independent &amp; Hysteretic Q-Learning (decentralised baselines)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Independent Q-Learning (IQL)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Every agent runs its own tabular Q-learning, treating other agents as part of the environment.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Simple, but the environment looks non-stationary from each agent's view.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Hysteretic Q-Learning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Optimistic IQL: large LR (alpha) for positive TD errors, small LR (beta) for negative ones.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Reduces mis-penalising an agent for teammates' exploration -&gt; more stable cooperation.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VDN &amp; QMIX (centralised training, decentralised execution)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Value Decomposition Networks (VDN)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Q_tot = sum_i Q_i(s_i, a_i); one shared TD error trains all agents; each acts greedily on its own Q_i.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Captures the team reward while keeping decentralised execution.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QMIX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Q_tot = monotonic mixing network of the Q_i, with weights produced by a hypernetwork on the global state.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Monotonicity keeps argmax_a Q_tot factorisable; strictly more expressive than VDN's sum.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Our QMIX is a deep CTDE method (PyTorch agent nets + mixing net) for the 1x4 domain.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Test scenarios: real-world traffic, MMDP-worthy stress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Custom 1x4 corridor scenarios (we designed these)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29184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Traffic design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Real-world analog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MMDP property stressed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30-veh platoons / 150 s; cross p=0.1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Arterial green wave, light cross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Basic spatial coordination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dense_wave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50-veh platoons / 100 s; cross p=0.05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Heavy commuter arterial at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Sequential hand-off (green wave)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cross_surge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20-veh platoons / 180 s; cross p=0.4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Event / shopping-district side streets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Collective sacrifice of arterial green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split_rush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0-1800s E-W heavy -&gt; 1800-3600s N-S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AM inbound -&gt; PM outbound reversal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Non-stationary strategy switch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All four share one 1x4 network; only the demand profile changes, isolating a distinct coordination challenge.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RESCO benchmark scenarios (standard, real-world)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  <a:gridCol w="301752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Real-world analog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MMDP property stressed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cologne3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Real 3-junction Cologne arterial (OSM), AM rush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Actual city corridor 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Transfer to real, heterogeneous junctions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grid4x4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Synthetic 16-junction grid, right-on-red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Dense downtown grid (Manhattan-like)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Scalability to many agents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RESCO = Reinforcement-learning Benchmarks for Signal Control. Junctions have 3-8 green phases (vs 2 in the 1x4).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Why these scenarios are MMDP-testing-worthy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Each scenario isolates a different property of the cooperative joint MDP: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Spatial credit assignment (dense_wave) - agents must hand platoons downstream in sequence.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Competing global trade-off (cross_surge) - the team must sacrifice local arterial throughput.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Temporal non-stationarity (split_rush) - the optimal joint policy changes mid-episode.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Realism &amp; heterogeneity (cologne3) - real geometry, unequal junctions and phase counts.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Scale (grid4x4) - 16 interacting agents stress factorisation and exploration.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Together they probe coordination, not just single-intersection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Experimental methodology &amp; reproducibility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Setup &amp; reproducibility (the "k-fold" analog for RL)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5 independent seeds x 6 scenarios, run as a SLURM job array (one task per seed x scenario).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Per-run seeding of numpy / torch / SUMO; fixed per-run eval seed for clean, comparable curves.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We report mean +/- std across seeds (learning curves with error bands; bar charts with error bars).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Multi-seed repetition is the RL analog of k-fold cross-validation: it quantifies variance/repro.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Baselines: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1x4: coordinated fixed-time (50/50) controller.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RESCO: BOTH the SUMO-native fixed-time program AND a round-robin all-phases plan.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Metric: evaluation return = - total system waiting time ("delay" = |return|, lower is better).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Performance across seeds: final / late-window / peak (mean +/- std)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521440" cy="1207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011680"/>
                <a:gridCol w="2377440"/>
                <a:gridCol w="2377440"/>
                <a:gridCol w="2377440"/>
                <a:gridCol w="82296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Late-window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Peak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Seeds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IQL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-119,144 ± 58,633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-118,183 ± 27,494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-45,498 ± 8,251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Hysteretic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-150,344 ± 163,663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-99,644 ± 35,382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-37,277 ± 2,293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VDN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-35,521 ± 11,517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-40,063 ± 14,959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-27,531 ± 3,797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Fixed-Time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-114,411 ± 1,541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-114,411 ± 1,541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-114,411 ± 1,541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QMIX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-25,956 ± 3,540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-24,245 ± 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-21,252 ± 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dense_wave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IQL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-169,004 ± 29,450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-249,185 ± 140,002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-92,991 ± 8,058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dense_wave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Hysteretic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-117,650 ± 50,216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-181,539 ± 95,508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-63,923 ± 10,688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dense_wave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VDN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-83,614 ± 16,807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-118,852 ± 41,819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-57,649 ± 5,746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dense_wave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Fixed-Time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-141,633 ± 3,216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-141,633 ± 3,216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-141,633 ± 3,216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dense_wave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QMIX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-49,603 ± 9,398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-50,347 ± 4,573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-36,240 ± 1,731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cross_surge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IQL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-305,483 ± 202,940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-298,661 ± 144,000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-145,227 ± 12,312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cross_surge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Hysteretic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-174,940 ± 43,596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-422,805 ± 133,130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-128,382 ± 7,705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cross_surge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VDN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-260,125 ± 119,732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-205,426 ± 31,761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-129,448 ± 6,814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cross_surge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Fixed-Time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-255,587 ± 1,715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-255,587 ± 1,715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-255,587 ± 1,715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cross_surge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QMIX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-91,369 ± 4,246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-87,819 ± 2,622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-79,746 ± 1,060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split_rush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IQL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-318,516 ± 316,965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-257,179 ± 112,120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-72,032 ± 12,225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split_rush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Hysteretic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-169,830 ± 87,539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-211,530 ± 171,319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-63,645 ± 6,979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split_rush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VDN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-109,227 ± 21,811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-104,294 ± 18,076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-58,214 ± 5,009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split_rush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Fixed-Time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-141,341 ± 1,619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-141,341 ± 1,619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-141,341 ± 1,619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split_rush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QMIX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-40,930 ± 8,581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-44,855 ± 4,433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-34,349 ± 2,599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cologne3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IQL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-10,589 ± 3,693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-10,729 ± 4,086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-6,473 ± 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cologne3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Hysteretic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-29,617 ± 44,541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-96,554 ± 97,862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-8,256 ± 4,322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cologne3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VDN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-5,510 ± 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-5,368 ± 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-3,882 ± 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cologne3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Fixed (native)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-44,047 ± 2,073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-44,047 ± 2,073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-44,047 ± 2,073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cologne3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Fixed (round-robin)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-175,498 ± 1,415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-175,498 ± 1,415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-175,498 ± 1,415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cologne3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QMIX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-11,779 ± 15,624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-14,429 ± 13,241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-2,947 ± 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grid4x4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IQL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-416,788 ± 53,524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-496,058 ± 35,573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-272,110 ± 29,998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grid4x4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Hysteretic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-484,504 ± 90,652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-462,960 ± 38,059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-239,863 ± 23,343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grid4x4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VDN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-190,620 ± 43,112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-155,544 ± 23,682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-93,341 ± 21,451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grid4x4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Fixed (native)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-31,498 ± 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-31,498 ± 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-31,498 ± 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grid4x4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Fixed (round-robin)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-47,571 ± 1,031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-47,571 ± 1,031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-47,571 ± 1,031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grid4x4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QMIX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-517,038 ± 129,346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-451,590 ± 87,427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-307,420 ± 16,159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From outputs/aggregated/summary.md. Return is negative; closer to 0 is better. Late-window = mean of last 5 evals (fair plateau metric); Peak = best eval per seed.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Cross-algorithm comparison: final epoch (mean +/- std over seeds)</a:t>
            </a:r>
          </a:p>
        </p:txBody>
      </p:sp>
      <p:pic>
        <p:nvPicPr>
          <p:cNvPr id="3" name="Picture 2" descr="cross_algorithm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29" y="1280160"/>
            <a:ext cx="861863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Final delay = |return| per scenario/algorithm; error bars = std across seeds.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Cross-algorithm comparison: converged plateau (last 5 evals)</a:t>
            </a:r>
          </a:p>
        </p:txBody>
      </p:sp>
      <p:pic>
        <p:nvPicPr>
          <p:cNvPr id="3" name="Picture 2" descr="cross_algorithm_bars_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29" y="1280160"/>
            <a:ext cx="861863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Late-window delay = |return|; the fair head-to-head metric, robust to late epsilon-greedy noise in the tabular learners.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baseline: learning curves (mean +/- std)</a:t>
            </a:r>
          </a:p>
        </p:txBody>
      </p:sp>
      <p:pic>
        <p:nvPicPr>
          <p:cNvPr id="3" name="Picture 2" descr="baseline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baseline: QMIX (CTDE) learning curve</a:t>
            </a:r>
          </a:p>
        </p:txBody>
      </p:sp>
      <p:pic>
        <p:nvPicPr>
          <p:cNvPr id="3" name="Picture 2" descr="baseline_q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dense_wave: learning curves (mean +/- std)</a:t>
            </a:r>
          </a:p>
        </p:txBody>
      </p:sp>
      <p:pic>
        <p:nvPicPr>
          <p:cNvPr id="3" name="Picture 2" descr="dense_wave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dense_wave: QMIX (CTDE) learning curve</a:t>
            </a:r>
          </a:p>
        </p:txBody>
      </p:sp>
      <p:pic>
        <p:nvPicPr>
          <p:cNvPr id="3" name="Picture 2" descr="dense_wave_q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cross_surge: learning curves (mean +/- std)</a:t>
            </a:r>
          </a:p>
        </p:txBody>
      </p:sp>
      <p:pic>
        <p:nvPicPr>
          <p:cNvPr id="3" name="Picture 2" descr="cross_surge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cross_surge: QMIX (CTDE) learning curve</a:t>
            </a:r>
          </a:p>
        </p:txBody>
      </p:sp>
      <p:pic>
        <p:nvPicPr>
          <p:cNvPr id="3" name="Picture 2" descr="cross_surge_q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split_rush: learning curves (mean +/- std)</a:t>
            </a:r>
          </a:p>
        </p:txBody>
      </p:sp>
      <p:pic>
        <p:nvPicPr>
          <p:cNvPr id="3" name="Picture 2" descr="split_rush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split_rush: QMIX (CTDE) learning curve</a:t>
            </a:r>
          </a:p>
        </p:txBody>
      </p:sp>
      <p:pic>
        <p:nvPicPr>
          <p:cNvPr id="3" name="Picture 2" descr="split_rush_q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cologne3: learning curves (mean +/- std)</a:t>
            </a:r>
          </a:p>
        </p:txBody>
      </p:sp>
      <p:pic>
        <p:nvPicPr>
          <p:cNvPr id="3" name="Picture 2" descr="cologne3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cologne3: QMIX (CTDE) learning curve</a:t>
            </a:r>
          </a:p>
        </p:txBody>
      </p:sp>
      <p:pic>
        <p:nvPicPr>
          <p:cNvPr id="3" name="Picture 2" descr="cologne3_q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grid4x4: learning curves (mean +/- std)</a:t>
            </a:r>
          </a:p>
        </p:txBody>
      </p:sp>
      <p:pic>
        <p:nvPicPr>
          <p:cNvPr id="3" name="Picture 2" descr="grid4x4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grid4x4: QMIX (CTDE) learning curve</a:t>
            </a:r>
          </a:p>
        </p:txBody>
      </p:sp>
      <p:pic>
        <p:nvPicPr>
          <p:cNvPr id="3" name="Picture 2" descr="grid4x4_q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280160"/>
            <a:ext cx="7900415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Finding: QMIX (CTDE) extends to real multi-phase junctions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We generalised QMIX from the 1x4 topology to RESCO: agent count, observation dim and per-agent action count are now read from the env (cologne3: 3 agents, 3-4 phases; grid4x4: 16 agents, 8 phases).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cologne3 - value factorisation wins decisively: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All factorised/independent learners beat both fixed-time baselines (native -44k, round-robin -175k).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QMIX reaches the best single-run policy of any method (peak ~ -2.9k); 4 of 5 seeds converge to ~ -3.5k.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But QMIX shows late-training instability: 1 of 5 seeds diverged to -43k, inflating its mean/variance.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VDN is the most RELIABLE winner on cologne3 (-5.4k +/- 0.4k) - near-best and low variance.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Finding: at 16 agents, expressiveness does NOT buy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grid4x4 (16 agents x 8 phases, single global reward): NO learner beats fixed-time (native -31k).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Among learners, simple VDN is best by far (late-window -156k); every other learner is ~3x worse.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QMIX is the most UNSTABLE: worst final epoch (-517k) and the highest variance of any learner; its late-window plateau (-452k) is only mid-pack, and its peak (-307k) is below the tabular learners' best.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Interpretation: the bottleneck at scale is sample-efficiency / credit assignment / exploration,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NOT mixer expressiveness. Under a fixed 500-episode budget, QMIX's heavier deep hypernetwork mixer (over a 64-dim joint state, 16 agents) is harder to train than VDN's simple sum.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More expressive != better at scale when samples are the binding constraint - a clean negative result.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The scalability picture (complete algorithm x problem grid)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Small scale (1x4 corridor, cologne3): value factorisation wins; QMIX/VDN beat fixed-time and the independent learners.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Large scale (grid4x4, 16 agents): cooperative MARL hits a wall - even the most expressive method fails to beat fixed-time, and expressiveness does not rescue it.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Severity scales with agent count and phase count (2 -&gt; ok, 3-4 -&gt; RL wins, 8x16 -&gt; RL loses),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pointing to coordination/credit-assignment at scale as the open problem, not the algorithm class.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Takeaways &amp; outlook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On the 1x4 MMDP, value factorisation wins: QMIX (CTDE) beats coordinated fixed-time on every scenario.</a:t>
            </a:r>
          </a:p>
          <a:p>
            <a:pPr lvl="1">
              <a:defRPr sz="1600">
                <a:solidFill>
                  <a:srgbClr val="555555"/>
                </a:solidFill>
              </a:defRPr>
            </a:pPr>
            <a:r>
              <a:t>VDN/QMIX (CTDE) consistently outperform independent learners (IQL/Hysteretic) under a shared reward.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Generalised to real RESCO junctions: on cologne3 (3 agents) factorisation beats fixed-time by ~10x; QMIX hits the best peak policy, VDN is the most reliable.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Scalability wall: at grid4x4 (16 agents) NO learner beats fixed-time; simple VDN is best by far while QMIX's heavier mixer is the most unstable (worst final epoch, highest variance) - expressiveness does not buy scale under a fixed sample budget.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Variance matters: we report final / late-window / peak (mean +/- std across 5 seeds), not single runs; deep learners can find a great policy yet fail to hold it (1 cologne3 QMIX seed diverged).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Modelling fidelity is decisive: getting the action space and observation right was the difference between no learning and learning on the real RESCO benchmarks.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10642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</a:defRPr>
            </a:pPr>
            <a:r>
              <a:t>grid4x4 is unsolved by all methods: the open problem is coordination / credit assignment at 16 agents, not the algorithm class - try a larger sample budget, reward shaping, or per-agent rewards.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Stabilise deep CTDE: early-stopping / Double-Q / target smoothing to prevent the late-training divergence seen on cologne3 QMIX.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Hyperparameter tuning and longer training for both tabular and deep learners on RESCO.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Add per-agent metrics (throughput, average delay) alongside the global reward.</a:t>
            </a:r>
          </a:p>
          <a:p>
            <a:pPr>
              <a:defRPr sz="1800" b="1">
                <a:solidFill>
                  <a:srgbClr val="1F3A5F"/>
                </a:solidFill>
              </a:defRPr>
            </a:pPr>
            <a:r>
              <a:t>Statistical significance tests across seeds for the headline comparisons.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173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2000">
                <a:solidFill>
                  <a:srgbClr val="DDDDDD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Reproduce: bash cluster/setup_env.sh  -&gt;  bash cluster/submit.sh  -&gt;  python make_presentation.py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